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2D46"/>
        </a:solidFill>
        <a:effectLst/>
      </p:bgPr>
    </p:bg>
    <p:spTree>
      <p:nvGrpSpPr>
        <p:cNvPr id="1" name=""/>
        <p:cNvGrpSpPr/>
        <p:nvPr/>
      </p:nvGrpSpPr>
      <p:grpSpPr/>
      <p:sp>
        <p:nvSpPr>
          <p:cNvPr id="2" name="Title 1"/>
          <p:cNvSpPr>
            <a:spLocks noGrp="1"/>
          </p:cNvSpPr>
          <p:nvPr>
            <p:ph type="ctrTitle"/>
          </p:nvPr>
        </p:nvSpPr>
        <p:spPr/>
        <p:txBody>
          <a:bodyPr/>
          <a:lstStyle/>
          <a:p>
            <a:pPr algn="l"/>
            <a:r>
              <a:rPr sz="2800" b="1">
                <a:solidFill>
                  <a:srgbClr val="FFFFFF"/>
                </a:solidFill>
              </a:rPr>
              <a:t>Simple Report 2 Static Snapshot</a:t>
            </a:r>
          </a:p>
        </p:txBody>
      </p:sp>
      <p:sp>
        <p:nvSpPr>
          <p:cNvPr id="3" name="Subtitle 2"/>
          <p:cNvSpPr>
            <a:spLocks noGrp="1"/>
          </p:cNvSpPr>
          <p:nvPr>
            <p:ph type="subTitle" idx="1"/>
          </p:nvPr>
        </p:nvSpPr>
        <p:spPr/>
        <p:txBody>
          <a:bodyPr/>
          <a:lstStyle/>
          <a:p>
            <a:r>
              <a:rPr sz="1600">
                <a:solidFill>
                  <a:srgbClr val="E1E9F2"/>
                </a:solidFill>
              </a:rPr>
              <a:t>Simple report contains 2 sections</a:t>
            </a:r>
          </a:p>
          <a:p/>
          <a:p>
            <a:r>
              <a:rPr sz="1600">
                <a:solidFill>
                  <a:srgbClr val="E1E9F2"/>
                </a:solidFill>
              </a:rPr>
              <a:t>Audience: General</a:t>
            </a:r>
          </a:p>
          <a:p>
            <a:r>
              <a:rPr sz="1600">
                <a:solidFill>
                  <a:srgbClr val="E1E9F2"/>
                </a:solidFill>
              </a:rPr>
              <a:t>Generated: 2026-03-27 06:03:07 UTC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2400" b="1">
                <a:solidFill>
                  <a:srgbClr val="213852"/>
                </a:solidFill>
              </a:rPr>
              <a:t>Document Metadata</a:t>
            </a:r>
          </a:p>
        </p:txBody>
      </p:sp>
      <p:sp>
        <p:nvSpPr>
          <p:cNvPr id="3" name="Content Placeholder 2"/>
          <p:cNvSpPr>
            <a:spLocks noGrp="1"/>
          </p:cNvSpPr>
          <p:nvPr>
            <p:ph idx="1"/>
          </p:nvPr>
        </p:nvSpPr>
        <p:spPr/>
        <p:txBody>
          <a:bodyPr wrap="square"/>
          <a:lstStyle/>
          <a:p>
            <a:pPr>
              <a:spcAft>
                <a:spcPts val="1000"/>
              </a:spcAft>
            </a:pPr>
            <a:r>
              <a:rPr sz="1800">
                <a:solidFill>
                  <a:srgbClr val="2D2D2D"/>
                </a:solidFill>
              </a:rPr>
              <a:t>Owner: StockReportPhemar</a:t>
            </a:r>
          </a:p>
          <a:p>
            <a:pPr>
              <a:spcAft>
                <a:spcPts val="1000"/>
              </a:spcAft>
            </a:pPr>
            <a:r>
              <a:rPr sz="1800">
                <a:solidFill>
                  <a:srgbClr val="2D2D2D"/>
                </a:solidFill>
              </a:rPr>
              <a:t>Phema ID: f5f8f90c-bc75-4ab7-b67d-2ae2dd582876</a:t>
            </a:r>
          </a:p>
          <a:p>
            <a:pPr>
              <a:spcAft>
                <a:spcPts val="1000"/>
              </a:spcAft>
            </a:pPr>
            <a:r>
              <a:rPr sz="1800">
                <a:solidFill>
                  <a:srgbClr val="2D2D2D"/>
                </a:solidFill>
              </a:rPr>
              <a:t>Target audience: General</a:t>
            </a:r>
          </a:p>
          <a:p>
            <a:pPr>
              <a:spcAft>
                <a:spcPts val="1000"/>
              </a:spcAft>
            </a:pPr>
            <a:r>
              <a:rPr sz="1800">
                <a:solidFill>
                  <a:srgbClr val="2D2D2D"/>
                </a:solidFill>
              </a:rPr>
              <a:t>Language: en</a:t>
            </a:r>
          </a:p>
          <a:p>
            <a:pPr>
              <a:spcAft>
                <a:spcPts val="1000"/>
              </a:spcAft>
            </a:pPr>
            <a:r>
              <a:rPr sz="1800">
                <a:solidFill>
                  <a:srgbClr val="2D2D2D"/>
                </a:solidFill>
              </a:rPr>
              <a:t>Theme: Executive</a:t>
            </a:r>
          </a:p>
          <a:p>
            <a:pPr>
              <a:spcAft>
                <a:spcPts val="1000"/>
              </a:spcAft>
            </a:pPr>
            <a:r>
              <a:rPr sz="1800">
                <a:solidFill>
                  <a:srgbClr val="2D2D2D"/>
                </a:solidFill>
              </a:rPr>
              <a:t>Tags: static, snapshot</a:t>
            </a:r>
          </a:p>
          <a:p>
            <a:pPr>
              <a:spcAft>
                <a:spcPts val="1000"/>
              </a:spcAft>
            </a:pPr>
            <a:r>
              <a:rPr sz="1800">
                <a:solidFill>
                  <a:srgbClr val="2D2D2D"/>
                </a:solidFill>
              </a:rPr>
              <a:t>Generated: 2026-03-27 06:03:07 UTC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2400" b="1">
                <a:solidFill>
                  <a:srgbClr val="213852"/>
                </a:solidFill>
              </a:rPr>
              <a:t>Company Info 2</a:t>
            </a:r>
          </a:p>
        </p:txBody>
      </p:sp>
      <p:sp>
        <p:nvSpPr>
          <p:cNvPr id="3" name="Content Placeholder 2"/>
          <p:cNvSpPr>
            <a:spLocks noGrp="1"/>
          </p:cNvSpPr>
          <p:nvPr>
            <p:ph idx="1"/>
          </p:nvPr>
        </p:nvSpPr>
        <p:spPr/>
        <p:txBody>
          <a:bodyPr wrap="square"/>
          <a:lstStyle/>
          <a:p>
            <a:pPr>
              <a:spcAft>
                <a:spcPts val="1000"/>
              </a:spcAft>
            </a:pPr>
            <a:r>
              <a:rPr sz="1800">
                <a:solidFill>
                  <a:srgbClr val="2D2D2D"/>
                </a:solidFill>
              </a:rPr>
              <a:t>TECHNOLOGY</a:t>
            </a:r>
          </a:p>
          <a:p>
            <a:pPr>
              <a:spcAft>
                <a:spcPts val="1000"/>
              </a:spcAft>
            </a:pPr>
            <a:r>
              <a:rPr sz="1800">
                <a:solidFill>
                  <a:srgbClr val="2D2D2D"/>
                </a:solidFill>
              </a:rPr>
              <a:t>IBM</a:t>
            </a:r>
          </a:p>
          <a:p>
            <a:pPr>
              <a:spcAft>
                <a:spcPts val="1000"/>
              </a:spcAft>
            </a:pPr>
            <a:r>
              <a:rPr sz="1800">
                <a:solidFill>
                  <a:srgbClr val="2D2D2D"/>
                </a:solidFill>
              </a:rPr>
              <a:t>https://www.ibm.com</a:t>
            </a:r>
          </a:p>
          <a:p>
            <a:pPr>
              <a:spcAft>
                <a:spcPts val="1000"/>
              </a:spcAft>
            </a:pPr>
            <a:r>
              <a:rPr sz="1800">
                <a:solidFill>
                  <a:srgbClr val="2D2D2D"/>
                </a:solidFill>
              </a:rPr>
              <a:t>INFORMATION TECHNOLOGY SERVICES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2400" b="1">
                <a:solidFill>
                  <a:srgbClr val="213852"/>
                </a:solidFill>
              </a:rPr>
              <a:t>Prices</a:t>
            </a:r>
          </a:p>
        </p:txBody>
      </p:sp>
      <p:sp>
        <p:nvSpPr>
          <p:cNvPr id="3" name="Content Placeholder 2"/>
          <p:cNvSpPr>
            <a:spLocks noGrp="1"/>
          </p:cNvSpPr>
          <p:nvPr>
            <p:ph idx="1"/>
          </p:nvPr>
        </p:nvSpPr>
        <p:spPr/>
        <p:txBody>
          <a:bodyPr wrap="square"/>
          <a:lstStyle/>
          <a:p>
            <a:pPr>
              <a:spcAft>
                <a:spcPts val="1000"/>
              </a:spcAft>
            </a:pPr>
            <a:r>
              <a:rPr sz="1800">
                <a:solidFill>
                  <a:srgbClr val="2D2D2D"/>
                </a:solidFill>
              </a:rPr>
              <a:t>{"data": null, "fetch": "125a68a4-104b-42bc-9c7d-f0ca159583dc", "field_path": "source"}</a:t>
            </a:r>
          </a:p>
          <a:p>
            <a:pPr>
              <a:spcAft>
                <a:spcPts val="1000"/>
              </a:spcAft>
            </a:pPr>
            <a:r>
              <a:rPr sz="1800">
                <a:solidFill>
                  <a:srgbClr val="2D2D2D"/>
                </a:solidFill>
              </a:rPr>
              <a:t>{"data": null, "fetch": "125a68a4-104b-42bc-9c7d-f0ca159583dc", "field_path": "symbol"}</a:t>
            </a:r>
          </a:p>
          <a:p>
            <a:pPr>
              <a:spcAft>
                <a:spcPts val="1000"/>
              </a:spcAft>
            </a:pPr>
            <a:r>
              <a:rPr sz="1800">
                <a:solidFill>
                  <a:srgbClr val="2D2D2D"/>
                </a:solidFill>
              </a:rPr>
              <a:t>{"data": null, "fetch": "125a68a4-104b-42bc-9c7d-f0ca159583dc", "field_path": "timestamp"}</a:t>
            </a:r>
          </a:p>
          <a:p>
            <a:pPr>
              <a:spcAft>
                <a:spcPts val="1000"/>
              </a:spcAft>
            </a:pPr>
            <a:r>
              <a:rPr sz="1800">
                <a:solidFill>
                  <a:srgbClr val="2D2D2D"/>
                </a:solidFill>
              </a:rPr>
              <a:t>{"data": null, "fetch": "125a68a4-104b-42bc-9c7d-f0ca159583dc", "field_path": "last_price"}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2400" b="1">
                <a:solidFill>
                  <a:srgbClr val="213852"/>
                </a:solidFill>
              </a:rPr>
              <a:t>News Summary</a:t>
            </a:r>
          </a:p>
        </p:txBody>
      </p:sp>
      <p:sp>
        <p:nvSpPr>
          <p:cNvPr id="3" name="Content Placeholder 2"/>
          <p:cNvSpPr>
            <a:spLocks noGrp="1"/>
          </p:cNvSpPr>
          <p:nvPr>
            <p:ph idx="1"/>
          </p:nvPr>
        </p:nvSpPr>
        <p:spPr/>
        <p:txBody>
          <a:bodyPr wrap="square"/>
          <a:lstStyle/>
          <a:p>
            <a:pPr>
              <a:spcAft>
                <a:spcPts val="1000"/>
              </a:spcAft>
            </a:pPr>
            <a:r>
              <a:rPr sz="1800">
                <a:solidFill>
                  <a:srgbClr val="2D2D2D"/>
                </a:solidFill>
              </a:rPr>
              <a:t>latest news article with headline, summary, and source link.</a:t>
            </a:r>
          </a:p>
          <a:p>
            <a:pPr>
              <a:spcAft>
                <a:spcPts val="1000"/>
              </a:spcAft>
            </a:pPr>
            <a:r>
              <a:rPr sz="1800">
                <a:solidFill>
                  <a:srgbClr val="2D2D2D"/>
                </a:solidFill>
              </a:rPr>
              <a:t>Headline:</a:t>
            </a:r>
          </a:p>
          <a:p>
            <a:pPr>
              <a:spcAft>
                <a:spcPts val="1000"/>
              </a:spcAft>
            </a:pPr>
            <a:r>
              <a:rPr sz="1800">
                <a:solidFill>
                  <a:srgbClr val="2D2D2D"/>
                </a:solidFill>
              </a:rPr>
              <a:t>Bunge Global Stock Analysis: Strong Gains Amid Debt &amp; Cash Flow Concerns - News and Statistics</a:t>
            </a:r>
          </a:p>
          <a:p>
            <a:pPr>
              <a:spcAft>
                <a:spcPts val="1000"/>
              </a:spcAft>
            </a:pPr>
            <a:r>
              <a:rPr sz="1800">
                <a:solidFill>
                  <a:srgbClr val="2D2D2D"/>
                </a:solidFill>
              </a:rPr>
              <a:t>Summary:</a:t>
            </a:r>
          </a:p>
          <a:p>
            <a:pPr>
              <a:spcAft>
                <a:spcPts val="1000"/>
              </a:spcAft>
            </a:pPr>
            <a:r>
              <a:rPr sz="1800">
                <a:solidFill>
                  <a:srgbClr val="2D2D2D"/>
                </a:solidFill>
              </a:rPr>
              <a:t>Bunge Global's shares have significantly increased to $119.94 over the last six months, despite analyst caution regarding its financial health. The company's sales growth has been modest, and its earnings per share have declined substantially, while its debt exceeds cash reserves. Analysts suggest the company may need to raise additional capital if core business performance doesn't improve, maintaining a cautious stance despite recent stock gains and a "reasonable" forward P/E multiple.</a:t>
            </a:r>
          </a:p>
          <a:p>
            <a:pPr>
              <a:spcAft>
                <a:spcPts val="1000"/>
              </a:spcAft>
            </a:pPr>
            <a:r>
              <a:rPr sz="1800">
                <a:solidFill>
                  <a:srgbClr val="2D2D2D"/>
                </a:solidFill>
              </a:rPr>
              <a:t>Source: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2400" b="1">
                <a:solidFill>
                  <a:srgbClr val="213852"/>
                </a:solidFill>
              </a:rPr>
              <a:t>News Summary (cont.)</a:t>
            </a:r>
          </a:p>
        </p:txBody>
      </p:sp>
      <p:sp>
        <p:nvSpPr>
          <p:cNvPr id="3" name="Content Placeholder 2"/>
          <p:cNvSpPr>
            <a:spLocks noGrp="1"/>
          </p:cNvSpPr>
          <p:nvPr>
            <p:ph idx="1"/>
          </p:nvPr>
        </p:nvSpPr>
        <p:spPr/>
        <p:txBody>
          <a:bodyPr wrap="square"/>
          <a:lstStyle/>
          <a:p>
            <a:pPr>
              <a:spcAft>
                <a:spcPts val="1000"/>
              </a:spcAft>
            </a:pPr>
            <a:r>
              <a:rPr sz="1800">
                <a:solidFill>
                  <a:srgbClr val="2D2D2D"/>
                </a:solidFill>
              </a:rPr>
              <a:t>https://www.indexbox.io/blog/bunge-global-shares-gain-despite-analyst-caution-on-financial-health/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Report 2 Static Snapshot</dc:title>
  <dc:subject>Simple report contains 2 sections</dc:subject>
  <dc:creator>PptCastr</dc:creator>
  <cp:keywords>phemacast, castr, pptx</cp:keywords>
  <dc:description>Generated by Phemacast PPTXCastr.</dc:description>
  <cp:lastModifiedBy>Steve Canny</cp:lastModifiedBy>
  <cp:revision>1</cp:revision>
  <dcterms:created xsi:type="dcterms:W3CDTF">2013-01-27T09:14:16Z</dcterms:created>
  <dcterms:modified xsi:type="dcterms:W3CDTF">2013-01-27T09:15:58Z</dcterms:modified>
  <cp:category/>
</cp:coreProperties>
</file>